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7242E"/>
                </a:solidFill>
                <a:latin typeface="Noto Sans CJK KR"/>
              </a:defRPr>
            </a:pPr>
            <a:r>
              <a:rPr sz="1300" b="0" i="0" u="none" strike="noStrike">
                <a:solidFill>
                  <a:srgbClr val="17242E"/>
                </a:solidFill>
                <a:latin typeface="Noto Sans CJK KR"/>
              </a:rPr>
              <a:t>배정 전략에 따른 Z2 vs Z3 (예제 instance)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모두 최선호 bay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7242E"/>
                    </a:solidFill>
                    <a:latin typeface="Noto Sans CJK KR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Z2 (작업 불균형)</c:v>
                  </c:pt>
                  <c:pt idx="1">
                    <c:v>Z3 (선호 손실)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183.7</c:v>
                </c:pt>
                <c:pt idx="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부하 균형 우선</c:v>
                </c:pt>
              </c:strCache>
            </c:strRef>
          </c:tx>
          <c:spPr>
            <a:solidFill>
              <a:srgbClr val="E9A23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7242E"/>
                    </a:solidFill>
                    <a:latin typeface="Noto Sans CJK KR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Z2 (작업 불균형)</c:v>
                  </c:pt>
                  <c:pt idx="1">
                    <c:v>Z3 (선호 손실)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9.4</c:v>
                </c:pt>
                <c:pt idx="1">
                  <c:v>340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7242E"/>
                  </a:solidFill>
                  <a:latin typeface="Noto Sans CJK KR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Noto Sans CJK K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75569"/>
              </a:solidFill>
              <a:latin typeface="Noto Sans CJK KR"/>
              <a:cs typeface="Noto Sans CJK K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7242E"/>
                </a:solidFill>
                <a:latin typeface="Noto Sans CJK KR"/>
              </a:defRPr>
            </a:pPr>
            <a:r>
              <a:rPr sz="1300" b="0" i="0" u="none" strike="noStrike">
                <a:solidFill>
                  <a:srgbClr val="17242E"/>
                </a:solidFill>
                <a:latin typeface="Noto Sans CJK KR"/>
              </a:rPr>
              <a:t>목적값 (낮을수록 좋음) — 진짜 채점기로 측정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제공 baseline</c:v>
                </c:pt>
              </c:strCache>
            </c:strRef>
          </c:tx>
          <c:spPr>
            <a:solidFill>
              <a:srgbClr val="6B7B8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7242E"/>
                    </a:solidFill>
                    <a:latin typeface="Noto Sans CJK KR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case A</c:v>
                  </c:pt>
                  <c:pt idx="1">
                    <c:v>case B</c:v>
                  </c:pt>
                  <c:pt idx="2">
                    <c:v>case C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162985</c:v>
                </c:pt>
                <c:pt idx="1">
                  <c:v>30868</c:v>
                </c:pt>
                <c:pt idx="2">
                  <c:v>90242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내 알고리즘(+ALNS)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7242E"/>
                    </a:solidFill>
                    <a:latin typeface="Noto Sans CJK KR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case A</c:v>
                  </c:pt>
                  <c:pt idx="1">
                    <c:v>case B</c:v>
                  </c:pt>
                  <c:pt idx="2">
                    <c:v>case C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157317</c:v>
                </c:pt>
                <c:pt idx="1">
                  <c:v>27564</c:v>
                </c:pt>
                <c:pt idx="2">
                  <c:v>64305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7242E"/>
                  </a:solidFill>
                  <a:latin typeface="Noto Sans CJK KR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Noto Sans CJK K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75569"/>
              </a:solidFill>
              <a:latin typeface="Noto Sans CJK KR"/>
              <a:cs typeface="Noto Sans CJK K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1371600"/>
            <a:ext cx="3931920" cy="4023360"/>
          </a:xfrm>
          <a:prstGeom prst="roundRect">
            <a:avLst>
              <a:gd name="adj" fmla="val 1860"/>
            </a:avLst>
          </a:prstGeom>
          <a:solidFill>
            <a:srgbClr val="1B4965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18120" y="1463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FC2D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BAY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8046720" y="2743200"/>
            <a:ext cx="1554480" cy="22860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Shape 3"/>
          <p:cNvSpPr/>
          <p:nvPr/>
        </p:nvSpPr>
        <p:spPr>
          <a:xfrm>
            <a:off x="9692640" y="3291840"/>
            <a:ext cx="1645920" cy="1737360"/>
          </a:xfrm>
          <a:prstGeom prst="rect">
            <a:avLst/>
          </a:prstGeom>
          <a:solidFill>
            <a:srgbClr val="E9A23B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0" y="3657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블록 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92640" y="40233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9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블록 B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9A23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DATA · OPTIMIZATION PORTFOLIO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828800"/>
            <a:ext cx="6949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조선소 선박 블록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배치 최적화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548640" y="397764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9D6E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제한된 작업장에 비정형 3D 블록을 어디에·어떻게·언제 두어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9D6E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납기 지연·작업 불균형·선호 손실을 최소화하는 공간·시간 통합 최적화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5212080"/>
            <a:ext cx="6583680" cy="0"/>
          </a:xfrm>
          <a:prstGeom prst="line">
            <a:avLst/>
          </a:prstGeom>
          <a:noFill/>
          <a:ln w="12700">
            <a:solidFill>
              <a:srgbClr val="3150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534924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비전공자도 이해하도록 비유 중심으로 구성  ·  데이터 분석 → 최적화 알고리즘 → 검증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A9D8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4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프로젝트 한눈에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62956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14300" dist="38100" dir="8100000">
              <a:srgbClr val="0B162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54480"/>
            <a:ext cx="82296" cy="214884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10512"/>
            <a:ext cx="4814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24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무엇을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2423160"/>
            <a:ext cx="48143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C4A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제한된 작업장(bay)에 비정형 블록을 배정·배치·일정하는 운영 최적화 문제를 풀었습니다.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77356" y="1554480"/>
            <a:ext cx="5362956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14300" dist="38100" dir="8100000">
              <a:srgbClr val="0B162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77356" y="1554480"/>
            <a:ext cx="82296" cy="2148840"/>
          </a:xfrm>
          <a:prstGeom prst="rect">
            <a:avLst/>
          </a:prstGeom>
          <a:solidFill>
            <a:srgbClr val="E9A23B"/>
          </a:solidFill>
          <a:ln/>
        </p:spPr>
      </p:sp>
      <p:sp>
        <p:nvSpPr>
          <p:cNvPr id="10" name="Text 8"/>
          <p:cNvSpPr/>
          <p:nvPr/>
        </p:nvSpPr>
        <p:spPr>
          <a:xfrm>
            <a:off x="6551676" y="1810512"/>
            <a:ext cx="4814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24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왜 어려운가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551676" y="2423160"/>
            <a:ext cx="48143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C4A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어느 bay·방향·위치·투입일·반출일을 한꺼번에 정하고, 충돌·크레인·납기를 동시에 만족해야 합니다.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5362956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14300" dist="38100" dir="8100000">
              <a:srgbClr val="0B162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4023360"/>
            <a:ext cx="82296" cy="2148840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279392"/>
            <a:ext cx="4814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24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무엇을 했나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22960" y="4892040"/>
            <a:ext cx="48143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C4A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데이터를 구조화하고, 기하 엔진 + 그리디 + ALNS(+MIP)로 푸는 파이프라인을 만들었습니다.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77356" y="4023360"/>
            <a:ext cx="5362956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14300" dist="38100" dir="8100000">
              <a:srgbClr val="0B162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77356" y="4023360"/>
            <a:ext cx="82296" cy="214884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8" name="Text 16"/>
          <p:cNvSpPr/>
          <p:nvPr/>
        </p:nvSpPr>
        <p:spPr>
          <a:xfrm>
            <a:off x="6551676" y="4279392"/>
            <a:ext cx="4814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24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결과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551676" y="4892040"/>
            <a:ext cx="48143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C4A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채점 재현 정확도 100%, 전 해 feasible, 어려운 인스턴스에서 baseline 대비 최대 -28.7% 개선.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A9D8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REQUEST 1 — ANALYSIS WORKFLOW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4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 분석가의 작업 순서로 본 이 프로젝트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680972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14300" dist="38100" dir="8100000">
              <a:srgbClr val="0B162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828800"/>
            <a:ext cx="82296" cy="30175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084832"/>
            <a:ext cx="384048" cy="384048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084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697480"/>
            <a:ext cx="13152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24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문제 정의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31520" y="3429000"/>
            <a:ext cx="13152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586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비즈니스 목표를 수식(목적함수·제약)으로 번역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211324" y="292608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B8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430780" y="1828800"/>
            <a:ext cx="1680972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14300" dist="38100" dir="8100000">
              <a:srgbClr val="0B162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30780" y="1828800"/>
            <a:ext cx="82296" cy="3017520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13" name="Shape 11"/>
          <p:cNvSpPr/>
          <p:nvPr/>
        </p:nvSpPr>
        <p:spPr>
          <a:xfrm>
            <a:off x="2659380" y="2084832"/>
            <a:ext cx="384048" cy="384048"/>
          </a:xfrm>
          <a:prstGeom prst="ellipse">
            <a:avLst/>
          </a:prstGeom>
          <a:solidFill>
            <a:srgbClr val="1B4965"/>
          </a:solidFill>
          <a:ln/>
        </p:spPr>
      </p:sp>
      <p:sp>
        <p:nvSpPr>
          <p:cNvPr id="14" name="Text 12"/>
          <p:cNvSpPr/>
          <p:nvPr/>
        </p:nvSpPr>
        <p:spPr>
          <a:xfrm>
            <a:off x="2659380" y="2084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613660" y="2697480"/>
            <a:ext cx="13152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24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 수집·구조화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2613660" y="3429000"/>
            <a:ext cx="13152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586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원문 JSON을 표(bay/블록/도형)로 정규화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093464" y="292608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B8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312920" y="1828800"/>
            <a:ext cx="1680972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14300" dist="38100" dir="8100000">
              <a:srgbClr val="0B1620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312920" y="1828800"/>
            <a:ext cx="82296" cy="3017520"/>
          </a:xfrm>
          <a:prstGeom prst="rect">
            <a:avLst/>
          </a:prstGeom>
          <a:solidFill>
            <a:srgbClr val="E9A23B"/>
          </a:solidFill>
          <a:ln/>
        </p:spPr>
      </p:sp>
      <p:sp>
        <p:nvSpPr>
          <p:cNvPr id="20" name="Shape 18"/>
          <p:cNvSpPr/>
          <p:nvPr/>
        </p:nvSpPr>
        <p:spPr>
          <a:xfrm>
            <a:off x="4541520" y="2084832"/>
            <a:ext cx="384048" cy="384048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21" name="Text 19"/>
          <p:cNvSpPr/>
          <p:nvPr/>
        </p:nvSpPr>
        <p:spPr>
          <a:xfrm>
            <a:off x="4541520" y="2084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495800" y="2697480"/>
            <a:ext cx="13152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24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EDA · 추출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495800" y="3429000"/>
            <a:ext cx="13152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586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분포·여유·선호를 분석해 난이도와 레버 파악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975604" y="292608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B8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195060" y="1828800"/>
            <a:ext cx="1680972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14300" dist="38100" dir="8100000">
              <a:srgbClr val="0B1620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95060" y="1828800"/>
            <a:ext cx="82296" cy="301752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27" name="Shape 25"/>
          <p:cNvSpPr/>
          <p:nvPr/>
        </p:nvSpPr>
        <p:spPr>
          <a:xfrm>
            <a:off x="6423660" y="2084832"/>
            <a:ext cx="384048" cy="384048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28" name="Text 26"/>
          <p:cNvSpPr/>
          <p:nvPr/>
        </p:nvSpPr>
        <p:spPr>
          <a:xfrm>
            <a:off x="6423660" y="2084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377940" y="2697480"/>
            <a:ext cx="13152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24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모델링(최적화)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6377940" y="3429000"/>
            <a:ext cx="13152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586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그리디→ALNS→MIP로 해를 생성·개선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857744" y="292608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B8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077200" y="1828800"/>
            <a:ext cx="1680972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14300" dist="38100" dir="8100000">
              <a:srgbClr val="0B1620">
                <a:alpha val="1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077200" y="1828800"/>
            <a:ext cx="82296" cy="3017520"/>
          </a:xfrm>
          <a:prstGeom prst="rect">
            <a:avLst/>
          </a:prstGeom>
          <a:solidFill>
            <a:srgbClr val="2F7D9A"/>
          </a:solidFill>
          <a:ln/>
        </p:spPr>
      </p:sp>
      <p:sp>
        <p:nvSpPr>
          <p:cNvPr id="34" name="Shape 32"/>
          <p:cNvSpPr/>
          <p:nvPr/>
        </p:nvSpPr>
        <p:spPr>
          <a:xfrm>
            <a:off x="8305800" y="2084832"/>
            <a:ext cx="384048" cy="384048"/>
          </a:xfrm>
          <a:prstGeom prst="ellipse">
            <a:avLst/>
          </a:prstGeom>
          <a:solidFill>
            <a:srgbClr val="2F7D9A"/>
          </a:solidFill>
          <a:ln/>
        </p:spPr>
      </p:sp>
      <p:sp>
        <p:nvSpPr>
          <p:cNvPr id="35" name="Text 33"/>
          <p:cNvSpPr/>
          <p:nvPr/>
        </p:nvSpPr>
        <p:spPr>
          <a:xfrm>
            <a:off x="8305800" y="2084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8260080" y="2697480"/>
            <a:ext cx="13152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24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평가 · 검증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8260080" y="3429000"/>
            <a:ext cx="13152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586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진짜 채점기로 feasibility·목적값 검증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9739884" y="292608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B8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9959340" y="1828800"/>
            <a:ext cx="1680972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14300" dist="38100" dir="8100000">
              <a:srgbClr val="0B1620">
                <a:alpha val="16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9959340" y="1828800"/>
            <a:ext cx="82296" cy="3017520"/>
          </a:xfrm>
          <a:prstGeom prst="rect">
            <a:avLst/>
          </a:prstGeom>
          <a:solidFill>
            <a:srgbClr val="6A4C93"/>
          </a:solidFill>
          <a:ln/>
        </p:spPr>
      </p:sp>
      <p:sp>
        <p:nvSpPr>
          <p:cNvPr id="41" name="Shape 39"/>
          <p:cNvSpPr/>
          <p:nvPr/>
        </p:nvSpPr>
        <p:spPr>
          <a:xfrm>
            <a:off x="10187940" y="2084832"/>
            <a:ext cx="384048" cy="384048"/>
          </a:xfrm>
          <a:prstGeom prst="ellipse">
            <a:avLst/>
          </a:prstGeom>
          <a:solidFill>
            <a:srgbClr val="6A4C93"/>
          </a:solidFill>
          <a:ln/>
        </p:spPr>
      </p:sp>
      <p:sp>
        <p:nvSpPr>
          <p:cNvPr id="42" name="Text 40"/>
          <p:cNvSpPr/>
          <p:nvPr/>
        </p:nvSpPr>
        <p:spPr>
          <a:xfrm>
            <a:off x="10187940" y="2084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10142220" y="2697480"/>
            <a:ext cx="13152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24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인사이트 도출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10142220" y="3429000"/>
            <a:ext cx="13152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586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무엇이 점수를 좌우하는지 결론화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48640" y="52120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B496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핵심: 이 문제는 '예측'이 아니라 '결정'을 찾는 최적화입니다. 그래서 모델링 단계가 학습이 아니라 탐색(알고리즘)입니다.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A9D8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4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무엇을 결정하는 문제인가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66928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14300" dist="38100" dir="8100000">
              <a:srgbClr val="0B162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54480"/>
            <a:ext cx="82296" cy="429768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830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4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블록 하나마다 동시에 정할 것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68680" y="2331720"/>
            <a:ext cx="384048" cy="384048"/>
          </a:xfrm>
          <a:prstGeom prst="ellipse">
            <a:avLst/>
          </a:prstGeom>
          <a:solidFill>
            <a:srgbClr val="1B4965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331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17320" y="229514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4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어느 작업장(bay)?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0" y="231343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B8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여러 작업장 중 한 곳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68680" y="2990088"/>
            <a:ext cx="384048" cy="384048"/>
          </a:xfrm>
          <a:prstGeom prst="ellipse">
            <a:avLst/>
          </a:prstGeom>
          <a:solidFill>
            <a:srgbClr val="1B4965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990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17320" y="29535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4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어느 방향?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114800" y="2971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B8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회전 방향 선택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68680" y="3648456"/>
            <a:ext cx="384048" cy="384048"/>
          </a:xfrm>
          <a:prstGeom prst="ellipse">
            <a:avLst/>
          </a:prstGeom>
          <a:solidFill>
            <a:srgbClr val="1B4965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648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1732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4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어느 위치?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114800" y="363016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B8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작업장 내 (x, y) 좌표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68680" y="4306824"/>
            <a:ext cx="384048" cy="384048"/>
          </a:xfrm>
          <a:prstGeom prst="ellipse">
            <a:avLst/>
          </a:prstGeom>
          <a:solidFill>
            <a:srgbClr val="1B4965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4306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417320" y="42702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4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언제 투입?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114800" y="428853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B8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ENTRY 날짜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68680" y="4965192"/>
            <a:ext cx="384048" cy="384048"/>
          </a:xfrm>
          <a:prstGeom prst="ellipse">
            <a:avLst/>
          </a:prstGeom>
          <a:solidFill>
            <a:srgbClr val="1B4965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4965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417320" y="492861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4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언제 반출?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114800" y="494690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B8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EXIT 날짜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583680" y="1554480"/>
            <a:ext cx="5056632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14300" dist="38100" dir="8100000">
              <a:srgbClr val="0B1620">
                <a:alpha val="1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583680" y="1554480"/>
            <a:ext cx="82296" cy="4297680"/>
          </a:xfrm>
          <a:prstGeom prst="rect">
            <a:avLst/>
          </a:prstGeom>
          <a:solidFill>
            <a:srgbClr val="E9A23B"/>
          </a:solidFill>
          <a:ln/>
        </p:spPr>
      </p:sp>
      <p:sp>
        <p:nvSpPr>
          <p:cNvPr id="29" name="Text 27"/>
          <p:cNvSpPr/>
          <p:nvPr/>
        </p:nvSpPr>
        <p:spPr>
          <a:xfrm>
            <a:off x="6903720" y="17830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4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쉽게 말하면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903720" y="23774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96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테트리스 </a:t>
            </a:r>
            <a:pPr indent="0" marL="0">
              <a:buNone/>
            </a:pPr>
            <a:r>
              <a:rPr lang="en-US" sz="1300" dirty="0">
                <a:solidFill>
                  <a:srgbClr val="3C4A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— 울퉁불퉁한 조각을 빈틈없이 끼워 넣되,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903720" y="288036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C4A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조각마다 들어오는 날·빼는 날이 다르고(주차장), 같은 작업장을 시간을 나눠 함께 쓰며(호텔), 동시에 머무는 블록끼리는 부딪치면 안 됩니다.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903720" y="4114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76F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지켜야 할 규칙 3가지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6903720" y="452628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C4A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① 작업장 밖으로 삐져나가지 않기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C4A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② 같은 시간·같은 층끼리 겹치지 않기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C4A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③ 크레인으로 넣고 뺄 때 길이 막히지 않기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A9D8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4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 수집과 구조화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C4A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원문은 하나의 JSON 파일입니다. 이를 분석·최적화하기 쉽게 표(테이블) 형태로 정규화했습니다.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1089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14300" dist="38100" dir="8100000">
              <a:srgbClr val="0B162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011680"/>
            <a:ext cx="82296" cy="3474720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2402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4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원문 JSON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788920"/>
            <a:ext cx="26517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50000"/>
              </a:lnSpc>
              <a:buSzPct val="100000"/>
              <a:buChar char="•"/>
            </a:pPr>
            <a:r>
              <a:rPr lang="en-US" sz="1250" dirty="0">
                <a:solidFill>
                  <a:srgbClr val="3C4A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name (이름)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3C4A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bays (작업장 크기들)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3C4A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blocks (블록 목록)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3C4A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weights (w1,w2,w3)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749040" y="33832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A9D8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4572000" y="2011680"/>
            <a:ext cx="706831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14300" dist="38100" dir="8100000">
              <a:srgbClr val="0B162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2011680"/>
            <a:ext cx="82296" cy="82296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212140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4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bays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680960" y="2121408"/>
            <a:ext cx="3685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86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width · height · area · u (보정가중치)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0" y="2889504"/>
            <a:ext cx="706831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14300" dist="38100" dir="8100000">
              <a:srgbClr val="0B162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0" y="2889504"/>
            <a:ext cx="82296" cy="822960"/>
          </a:xfrm>
          <a:prstGeom prst="rect">
            <a:avLst/>
          </a:prstGeom>
          <a:solidFill>
            <a:srgbClr val="E9A23B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299923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4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blocks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680960" y="2999232"/>
            <a:ext cx="3685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86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release · due · processing · workload · slack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72000" y="3767328"/>
            <a:ext cx="706831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14300" dist="38100" dir="8100000">
              <a:srgbClr val="0B1620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0" y="3767328"/>
            <a:ext cx="82296" cy="82296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387705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4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bay_preferences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680960" y="3877056"/>
            <a:ext cx="3685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86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블록별 작업장 선호 점수(합 100)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572000" y="4645152"/>
            <a:ext cx="706831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14300" dist="38100" dir="8100000">
              <a:srgbClr val="0B1620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0" y="4645152"/>
            <a:ext cx="82296" cy="822960"/>
          </a:xfrm>
          <a:prstGeom prst="rect">
            <a:avLst/>
          </a:prstGeom>
          <a:solidFill>
            <a:srgbClr val="2F7D9A"/>
          </a:solidFill>
          <a:ln/>
        </p:spPr>
      </p:sp>
      <p:sp>
        <p:nvSpPr>
          <p:cNvPr id="24" name="Text 22"/>
          <p:cNvSpPr/>
          <p:nvPr/>
        </p:nvSpPr>
        <p:spPr>
          <a:xfrm>
            <a:off x="4846320" y="47548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4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shape_vertices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680960" y="4754880"/>
            <a:ext cx="3685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86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방향·층별 다각형 꼭짓점(상대좌표)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A9D8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EDA &amp; INSIGHT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4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분석에서 찾은 핵심 인사이트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56692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583680" y="1645920"/>
            <a:ext cx="505663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14300" dist="38100" dir="8100000">
              <a:srgbClr val="0B1620">
                <a:alpha val="1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583680" y="1645920"/>
            <a:ext cx="82296" cy="96012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0" y="1755648"/>
            <a:ext cx="4507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4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납기 지연이 승부처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858000" y="2103120"/>
            <a:ext cx="4507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586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w1=2667로 압도적. 1일 지연 ≈ 2667점이라 지연 최소화가 핵심, 균형·선호는 타이브레이커.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583680" y="2724912"/>
            <a:ext cx="505663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14300" dist="38100" dir="8100000">
              <a:srgbClr val="0B162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0" y="2724912"/>
            <a:ext cx="82296" cy="960120"/>
          </a:xfrm>
          <a:prstGeom prst="rect">
            <a:avLst/>
          </a:prstGeom>
          <a:solidFill>
            <a:srgbClr val="E9A23B"/>
          </a:solidFill>
          <a:ln/>
        </p:spPr>
      </p:sp>
      <p:sp>
        <p:nvSpPr>
          <p:cNvPr id="11" name="Text 8"/>
          <p:cNvSpPr/>
          <p:nvPr/>
        </p:nvSpPr>
        <p:spPr>
          <a:xfrm>
            <a:off x="6858000" y="2834640"/>
            <a:ext cx="4507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4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여유(slack)가 빡빡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858000" y="3182112"/>
            <a:ext cx="4507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586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평균 1.2일. 조금만 늦게 투입돼도 바로 지연 → 동시 패킹이 중요.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583680" y="3803904"/>
            <a:ext cx="505663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14300" dist="38100" dir="8100000">
              <a:srgbClr val="0B1620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583680" y="3803904"/>
            <a:ext cx="82296" cy="960120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15" name="Text 12"/>
          <p:cNvSpPr/>
          <p:nvPr/>
        </p:nvSpPr>
        <p:spPr>
          <a:xfrm>
            <a:off x="6858000" y="3913632"/>
            <a:ext cx="4507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4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feasible은 0/1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858000" y="4261104"/>
            <a:ext cx="4507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586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규칙 하나만 어겨도 무효(-1점). '항상 말이 되는 해'를 내는 안정성이 점수.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583680" y="4882896"/>
            <a:ext cx="505663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14300" dist="38100" dir="8100000">
              <a:srgbClr val="0B1620">
                <a:alpha val="16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583680" y="4882896"/>
            <a:ext cx="82296" cy="9601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9" name="Text 16"/>
          <p:cNvSpPr/>
          <p:nvPr/>
        </p:nvSpPr>
        <p:spPr>
          <a:xfrm>
            <a:off x="6858000" y="4992624"/>
            <a:ext cx="4507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4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배정 트레이드오프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6858000" y="5340096"/>
            <a:ext cx="4507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586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선호를 좇으면 한 bay에 일이 몰리고(Z2↑), 균형을 좇으면 선호 손실(Z3↑).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9A23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REQUEST 3 — FORMULAS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수식 정리: 무엇을 최소화하나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D6E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목표 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=  w₁·Z₁  +  w₂·Z₂  +  w₃·Z₃   </a:t>
            </a:r>
            <a:pPr indent="0" marL="0">
              <a:buNone/>
            </a:pPr>
            <a:r>
              <a:rPr lang="en-US" sz="2000" i="1" dirty="0">
                <a:solidFill>
                  <a:srgbClr val="8FA6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(작을수록 좋은 해)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392424" cy="2286000"/>
          </a:xfrm>
          <a:prstGeom prst="rect">
            <a:avLst/>
          </a:prstGeom>
          <a:solidFill>
            <a:srgbClr val="1B4965"/>
          </a:solidFill>
          <a:ln w="12700">
            <a:solidFill>
              <a:srgbClr val="31506B"/>
            </a:solidFill>
            <a:prstDash val="solid"/>
          </a:ln>
          <a:effectLst>
            <a:outerShdw sx="100000" sy="100000" kx="0" ky="0" algn="bl" rotWithShape="0" blurRad="114300" dist="38100" dir="8100000">
              <a:srgbClr val="0B162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194560"/>
            <a:ext cx="3392424" cy="82296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468880"/>
            <a:ext cx="2843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Z₁  납기 지연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3063240"/>
            <a:ext cx="2843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E3D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Σ max(0, 반출일 − 납기일)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3749040"/>
            <a:ext cx="2843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9D6E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약속보다 늦은 날 수의 합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98264" y="2194560"/>
            <a:ext cx="3392424" cy="2286000"/>
          </a:xfrm>
          <a:prstGeom prst="rect">
            <a:avLst/>
          </a:prstGeom>
          <a:solidFill>
            <a:srgbClr val="1B4965"/>
          </a:solidFill>
          <a:ln w="12700">
            <a:solidFill>
              <a:srgbClr val="31506B"/>
            </a:solidFill>
            <a:prstDash val="solid"/>
          </a:ln>
          <a:effectLst>
            <a:outerShdw sx="100000" sy="100000" kx="0" ky="0" algn="bl" rotWithShape="0" blurRad="114300" dist="38100" dir="8100000">
              <a:srgbClr val="0B162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98264" y="2194560"/>
            <a:ext cx="3392424" cy="82296"/>
          </a:xfrm>
          <a:prstGeom prst="rect">
            <a:avLst/>
          </a:prstGeom>
          <a:solidFill>
            <a:srgbClr val="E9A23B"/>
          </a:solidFill>
          <a:ln/>
        </p:spPr>
      </p:sp>
      <p:sp>
        <p:nvSpPr>
          <p:cNvPr id="12" name="Text 10"/>
          <p:cNvSpPr/>
          <p:nvPr/>
        </p:nvSpPr>
        <p:spPr>
          <a:xfrm>
            <a:off x="4672584" y="2468880"/>
            <a:ext cx="2843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Z₂  작업 불균형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72584" y="3063240"/>
            <a:ext cx="2843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E3D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max |uⱼ₁·부하ⱼ₁ − uⱼ₂·부하ⱼ₂|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672584" y="3749040"/>
            <a:ext cx="2843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9D6E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가장 바쁜 vs 한가한 작업장의 차이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47888" y="2194560"/>
            <a:ext cx="3392424" cy="2286000"/>
          </a:xfrm>
          <a:prstGeom prst="rect">
            <a:avLst/>
          </a:prstGeom>
          <a:solidFill>
            <a:srgbClr val="1B4965"/>
          </a:solidFill>
          <a:ln w="12700">
            <a:solidFill>
              <a:srgbClr val="31506B"/>
            </a:solidFill>
            <a:prstDash val="solid"/>
          </a:ln>
          <a:effectLst>
            <a:outerShdw sx="100000" sy="100000" kx="0" ky="0" algn="bl" rotWithShape="0" blurRad="114300" dist="38100" dir="8100000">
              <a:srgbClr val="0B1620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47888" y="2194560"/>
            <a:ext cx="3392424" cy="82296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7" name="Text 15"/>
          <p:cNvSpPr/>
          <p:nvPr/>
        </p:nvSpPr>
        <p:spPr>
          <a:xfrm>
            <a:off x="8522208" y="2468880"/>
            <a:ext cx="2843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Z₃  선호 손실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522208" y="3063240"/>
            <a:ext cx="2843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E3D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Σ (최고선호 − 배정된 곳 선호)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522208" y="3749040"/>
            <a:ext cx="2843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9D6E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덜 선호하는 곳에 둔 아쉬움의 합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49377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uⱼ = (평균 작업장 면적) / (작업장 j 면적) — 큰 작업장은 같은 일도 덜 붐비는 것으로 보정.   ※ Z₂에 제곱근은 없음(채점 코드로 확정).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A9D8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ALGORITHM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4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수식을 푸는 알고리즘 파이프라인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91672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14300" dist="38100" dir="8100000">
              <a:srgbClr val="0B162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54480"/>
            <a:ext cx="82296" cy="84124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00784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4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기하 엔진 (geometry)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3931920" y="1700784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86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담기·충돌·크레인 규칙 판정 + 날짜순 시뮬레이션 검증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9628632" y="1755648"/>
            <a:ext cx="1691640" cy="438912"/>
          </a:xfrm>
          <a:prstGeom prst="roundRect">
            <a:avLst>
              <a:gd name="adj" fmla="val 12500"/>
            </a:avLst>
          </a:prstGeom>
          <a:solidFill>
            <a:srgbClr val="F4F7FA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28632" y="1755648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제약(규칙) 담당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450592"/>
            <a:ext cx="11091672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14300" dist="38100" dir="8100000">
              <a:srgbClr val="0B162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450592"/>
            <a:ext cx="82296" cy="841248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596896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4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후보 생성 (candidates)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931920" y="2596896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86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놓을 만한 (방향·위치) 후보만 추려 탐색량을 줄임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628632" y="2651760"/>
            <a:ext cx="1691640" cy="438912"/>
          </a:xfrm>
          <a:prstGeom prst="roundRect">
            <a:avLst>
              <a:gd name="adj" fmla="val 12500"/>
            </a:avLst>
          </a:prstGeom>
          <a:solidFill>
            <a:srgbClr val="F4F7FA"/>
          </a:solidFill>
          <a:ln w="12700">
            <a:solidFill>
              <a:srgbClr val="1B496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28632" y="2651760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496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탐색 효율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346704"/>
            <a:ext cx="11091672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14300" dist="38100" dir="8100000">
              <a:srgbClr val="0B162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346704"/>
            <a:ext cx="82296" cy="841248"/>
          </a:xfrm>
          <a:prstGeom prst="rect">
            <a:avLst/>
          </a:prstGeom>
          <a:solidFill>
            <a:srgbClr val="E9A23B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349300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4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그리디 (greedy)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3931920" y="3493008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86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급한 블록부터 빠르게 '괜찮은' 초기해 생성(항상 feasible)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628632" y="3547872"/>
            <a:ext cx="1691640" cy="438912"/>
          </a:xfrm>
          <a:prstGeom prst="roundRect">
            <a:avLst>
              <a:gd name="adj" fmla="val 12500"/>
            </a:avLst>
          </a:prstGeom>
          <a:solidFill>
            <a:srgbClr val="F4F7FA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28632" y="3547872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9A23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초기해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242816"/>
            <a:ext cx="11091672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14300" dist="38100" dir="8100000">
              <a:srgbClr val="0B1620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4242816"/>
            <a:ext cx="82296" cy="841248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43891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4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ALNS (개선)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3931920" y="438912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86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지연 큰 블록을 빼서 더 이른 시점·덜 붐비는 곳으로 재패킹 반복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9628632" y="4443984"/>
            <a:ext cx="1691640" cy="438912"/>
          </a:xfrm>
          <a:prstGeom prst="roundRect">
            <a:avLst>
              <a:gd name="adj" fmla="val 12500"/>
            </a:avLst>
          </a:prstGeom>
          <a:solidFill>
            <a:srgbClr val="F4F7FA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28632" y="4443984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76F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Z₁ 개선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5138928"/>
            <a:ext cx="11091672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14300" dist="38100" dir="8100000">
              <a:srgbClr val="0B1620">
                <a:alpha val="1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8640" y="5138928"/>
            <a:ext cx="82296" cy="841248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30" name="Text 28"/>
          <p:cNvSpPr/>
          <p:nvPr/>
        </p:nvSpPr>
        <p:spPr>
          <a:xfrm>
            <a:off x="868680" y="528523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4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small-window MIP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3931920" y="5285232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86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혼잡 구간만 떼어 상용 솔버(Gurobi)로 정밀 재최적화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9628632" y="5340096"/>
            <a:ext cx="1691640" cy="438912"/>
          </a:xfrm>
          <a:prstGeom prst="roundRect">
            <a:avLst>
              <a:gd name="adj" fmla="val 12500"/>
            </a:avLst>
          </a:prstGeom>
          <a:solidFill>
            <a:srgbClr val="F4F7FA"/>
          </a:solidFill>
          <a:ln w="12700">
            <a:solidFill>
              <a:srgbClr val="1B496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28632" y="5340096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496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국소 최적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A9D8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REQUEST 2 — KEY IDEAS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4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 프로젝트의 '새로운 아이디어'와 그 효과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453384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14300" dist="38100" dir="8100000">
              <a:srgbClr val="0B162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54480"/>
            <a:ext cx="82296" cy="18288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737360"/>
            <a:ext cx="2950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24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후보 배치 (candidate placement)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04672" y="2423160"/>
            <a:ext cx="29504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4A586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무한히 많은 좌표를 직접 풀지 않고, 쓸 만한 자리 몇 개로 압축해 고르게 함.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804672" y="2971800"/>
            <a:ext cx="2950464" cy="310896"/>
          </a:xfrm>
          <a:prstGeom prst="roundRect">
            <a:avLst>
              <a:gd name="adj" fmla="val 14706"/>
            </a:avLst>
          </a:prstGeom>
          <a:solidFill>
            <a:srgbClr val="F4F7FA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2971800"/>
            <a:ext cx="2950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도움 ✓ 문제를 다루기 쉽게 만듦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67784" y="1554480"/>
            <a:ext cx="3453384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14300" dist="38100" dir="8100000">
              <a:srgbClr val="0B162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67784" y="1554480"/>
            <a:ext cx="82296" cy="1828800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12" name="Text 10"/>
          <p:cNvSpPr/>
          <p:nvPr/>
        </p:nvSpPr>
        <p:spPr>
          <a:xfrm>
            <a:off x="4623816" y="1737360"/>
            <a:ext cx="2950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24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크레인-안전 공존 규칙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623816" y="2423160"/>
            <a:ext cx="29504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4A586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두 블록을 같이 둘 때 넣을 때·뺄 때 모두 막히지 않는 경우만 허용(보수적 안전).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4623816" y="2971800"/>
            <a:ext cx="2950464" cy="310896"/>
          </a:xfrm>
          <a:prstGeom prst="roundRect">
            <a:avLst>
              <a:gd name="adj" fmla="val 14706"/>
            </a:avLst>
          </a:prstGeom>
          <a:solidFill>
            <a:srgbClr val="F4F7FA"/>
          </a:solidFill>
          <a:ln w="12700">
            <a:solidFill>
              <a:srgbClr val="1B496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23816" y="2971800"/>
            <a:ext cx="2950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496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도움 ✓ 무효해를 원천 차단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186928" y="1554480"/>
            <a:ext cx="3453384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14300" dist="38100" dir="8100000">
              <a:srgbClr val="0B162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86928" y="1554480"/>
            <a:ext cx="82296" cy="182880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8" name="Text 16"/>
          <p:cNvSpPr/>
          <p:nvPr/>
        </p:nvSpPr>
        <p:spPr>
          <a:xfrm>
            <a:off x="8442960" y="1737360"/>
            <a:ext cx="2950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24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부수고 다시 짓기 (ALNS)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442960" y="2423160"/>
            <a:ext cx="29504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4A586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지연 큰 블록만 빼서 더 좋게 다시 패킹. 가끔 손해도 허용해 더 좋은 해로 탈출.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8442960" y="2971800"/>
            <a:ext cx="2950464" cy="310896"/>
          </a:xfrm>
          <a:prstGeom prst="roundRect">
            <a:avLst>
              <a:gd name="adj" fmla="val 14706"/>
            </a:avLst>
          </a:prstGeom>
          <a:solidFill>
            <a:srgbClr val="F4F7FA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42960" y="2971800"/>
            <a:ext cx="2950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76F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도움 ✓ 실제로 점수 개선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3657600"/>
            <a:ext cx="3453384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14300" dist="38100" dir="8100000">
              <a:srgbClr val="0B1620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3657600"/>
            <a:ext cx="82296" cy="1828800"/>
          </a:xfrm>
          <a:prstGeom prst="rect">
            <a:avLst/>
          </a:prstGeom>
          <a:solidFill>
            <a:srgbClr val="E9A23B"/>
          </a:solidFill>
          <a:ln/>
        </p:spPr>
      </p:sp>
      <p:sp>
        <p:nvSpPr>
          <p:cNvPr id="24" name="Text 22"/>
          <p:cNvSpPr/>
          <p:nvPr/>
        </p:nvSpPr>
        <p:spPr>
          <a:xfrm>
            <a:off x="804672" y="3840480"/>
            <a:ext cx="2950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24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수학+휴리스틱 결합 (matheuristic)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804672" y="4526280"/>
            <a:ext cx="29504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4A586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혼잡 구간만 상용 솔버로 정밀하게. 빠른 휴리스틱과 정확한 최적화의 장점 결합.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804672" y="5074920"/>
            <a:ext cx="2950464" cy="310896"/>
          </a:xfrm>
          <a:prstGeom prst="roundRect">
            <a:avLst>
              <a:gd name="adj" fmla="val 14706"/>
            </a:avLst>
          </a:prstGeom>
          <a:solidFill>
            <a:srgbClr val="F4F7FA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4672" y="5074920"/>
            <a:ext cx="2950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9A23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도움 ✓ 품질·신규성↑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367784" y="3657600"/>
            <a:ext cx="3453384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14300" dist="38100" dir="8100000">
              <a:srgbClr val="0B1620">
                <a:alpha val="1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367784" y="3657600"/>
            <a:ext cx="82296" cy="1828800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30" name="Text 28"/>
          <p:cNvSpPr/>
          <p:nvPr/>
        </p:nvSpPr>
        <p:spPr>
          <a:xfrm>
            <a:off x="4623816" y="3840480"/>
            <a:ext cx="2950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24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순수 파이썬 채점기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4623816" y="4526280"/>
            <a:ext cx="29504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4A586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채점에 필요한 도형 계산을 외부 라이브러리 없이 직접 구현 → 어디서나 검증.</a:t>
            </a:r>
            <a:endParaRPr lang="en-US" sz="1080" dirty="0"/>
          </a:p>
        </p:txBody>
      </p:sp>
      <p:sp>
        <p:nvSpPr>
          <p:cNvPr id="32" name="Shape 30"/>
          <p:cNvSpPr/>
          <p:nvPr/>
        </p:nvSpPr>
        <p:spPr>
          <a:xfrm>
            <a:off x="4623816" y="5074920"/>
            <a:ext cx="2950464" cy="310896"/>
          </a:xfrm>
          <a:prstGeom prst="roundRect">
            <a:avLst>
              <a:gd name="adj" fmla="val 14706"/>
            </a:avLst>
          </a:prstGeom>
          <a:solidFill>
            <a:srgbClr val="F4F7FA"/>
          </a:solidFill>
          <a:ln w="12700">
            <a:solidFill>
              <a:srgbClr val="1B496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23816" y="5074920"/>
            <a:ext cx="2950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496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도움 ✓ 재현·검증 용이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B496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정리: 이 문제에서 '새 아이디어'는 곧 더 똑똑한 탐색·검증 방법입니다. 화려한 모델보다, 규칙을 안전하게 지키며 빠르게 더 좋은 해를 찾는 장치가 곧 성과로 이어집니다.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A9D8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REQUEST 3 — WHERE ML/DL FITS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4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머신러닝·딥러닝은 어디에 쓰이나 (솔직한 정리)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57784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14300" dist="38100" dir="8100000">
              <a:srgbClr val="0B162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54480"/>
            <a:ext cx="82296" cy="429768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830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6F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왜 핵심이 아닌가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3317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C4A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 문제는 '미래를 예측'하는 문제가 아니라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724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'정해진 규칙 안에서 최선의 결정을 찾는' 조합 최적화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C4A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입니다.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329184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3C4A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정답 라벨이 있는 학습 데이터가 없음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3C4A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평가 서버에 GPU 없음(CPU 전용)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3C4A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규칙 위반은 즉시 무효 → 정확한 제약 처리가 우선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68680" y="502920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724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 그래서 핵심 엔진은 학습이 아니라 알고리즘(탐색)입니다.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92240" y="1554480"/>
            <a:ext cx="5148072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14300" dist="38100" dir="8100000">
              <a:srgbClr val="0B162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92240" y="1554480"/>
            <a:ext cx="82296" cy="429768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2" name="Text 10"/>
          <p:cNvSpPr/>
          <p:nvPr/>
        </p:nvSpPr>
        <p:spPr>
          <a:xfrm>
            <a:off x="6812280" y="17830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9D8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그래도 ML/DL을 보조로 쓸 수 있는 곳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812280" y="2331720"/>
            <a:ext cx="384048" cy="384048"/>
          </a:xfrm>
          <a:prstGeom prst="ellipse">
            <a:avLst/>
          </a:prstGeom>
          <a:solidFill>
            <a:srgbClr val="1B4965"/>
          </a:solidFill>
          <a:ln/>
        </p:spPr>
      </p:sp>
      <p:sp>
        <p:nvSpPr>
          <p:cNvPr id="14" name="Text 12"/>
          <p:cNvSpPr/>
          <p:nvPr/>
        </p:nvSpPr>
        <p:spPr>
          <a:xfrm>
            <a:off x="6812280" y="2331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360920" y="2286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4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학습된 우선순위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60920" y="263347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586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어떤 블록을 먼저 둘지 점수를 모델이 학습(지도/모방학습)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12280" y="3172968"/>
            <a:ext cx="384048" cy="384048"/>
          </a:xfrm>
          <a:prstGeom prst="ellipse">
            <a:avLst/>
          </a:prstGeom>
          <a:solidFill>
            <a:srgbClr val="1B4965"/>
          </a:solidFill>
          <a:ln/>
        </p:spPr>
      </p:sp>
      <p:sp>
        <p:nvSpPr>
          <p:cNvPr id="18" name="Text 16"/>
          <p:cNvSpPr/>
          <p:nvPr/>
        </p:nvSpPr>
        <p:spPr>
          <a:xfrm>
            <a:off x="6812280" y="3172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360920" y="31272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4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강화학습 RL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60920" y="34747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586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배치·일정을 순차적 의사결정으로 보고 정책 학습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12280" y="4014216"/>
            <a:ext cx="384048" cy="384048"/>
          </a:xfrm>
          <a:prstGeom prst="ellipse">
            <a:avLst/>
          </a:prstGeom>
          <a:solidFill>
            <a:srgbClr val="1B4965"/>
          </a:solidFill>
          <a:ln/>
        </p:spPr>
      </p:sp>
      <p:sp>
        <p:nvSpPr>
          <p:cNvPr id="22" name="Text 20"/>
          <p:cNvSpPr/>
          <p:nvPr/>
        </p:nvSpPr>
        <p:spPr>
          <a:xfrm>
            <a:off x="6812280" y="4014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360920" y="396849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4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연산자 선택 학습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360920" y="431596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586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ALNS의 어떤 제거/재삽입을 쓸지 상황에 맞게 학습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12280" y="4855464"/>
            <a:ext cx="384048" cy="384048"/>
          </a:xfrm>
          <a:prstGeom prst="ellipse">
            <a:avLst/>
          </a:prstGeom>
          <a:solidFill>
            <a:srgbClr val="1B4965"/>
          </a:solidFill>
          <a:ln/>
        </p:spPr>
      </p:sp>
      <p:sp>
        <p:nvSpPr>
          <p:cNvPr id="26" name="Text 24"/>
          <p:cNvSpPr/>
          <p:nvPr/>
        </p:nvSpPr>
        <p:spPr>
          <a:xfrm>
            <a:off x="6812280" y="4855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360920" y="480974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4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그래프 신경망 GNN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360920" y="515721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586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블록·작업장 관계를 그래프로 보고 배치 후보 추천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A9D8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4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평가와 검증 — '진짜 채점기'로 확인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62956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14300" dist="38100" dir="8100000">
              <a:srgbClr val="0B162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45920"/>
            <a:ext cx="82296" cy="196596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920240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1938528"/>
            <a:ext cx="41742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4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채점 재현 정확도 100%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2560320"/>
            <a:ext cx="47228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586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내 목적함수 계산이 대회 제공 채점 코드(utils.py)와 모든 테스트에서 정확히 일치.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77356" y="1645920"/>
            <a:ext cx="5362956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14300" dist="38100" dir="8100000">
              <a:srgbClr val="0B162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77356" y="1645920"/>
            <a:ext cx="82296" cy="1965960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12" name="Shape 10"/>
          <p:cNvSpPr/>
          <p:nvPr/>
        </p:nvSpPr>
        <p:spPr>
          <a:xfrm>
            <a:off x="6551676" y="1920240"/>
            <a:ext cx="457200" cy="457200"/>
          </a:xfrm>
          <a:prstGeom prst="ellipse">
            <a:avLst/>
          </a:prstGeom>
          <a:solidFill>
            <a:srgbClr val="1B4965"/>
          </a:solidFill>
          <a:ln/>
        </p:spPr>
      </p:sp>
      <p:sp>
        <p:nvSpPr>
          <p:cNvPr id="13" name="Text 11"/>
          <p:cNvSpPr/>
          <p:nvPr/>
        </p:nvSpPr>
        <p:spPr>
          <a:xfrm>
            <a:off x="6551676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191756" y="1938528"/>
            <a:ext cx="41742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4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 해 feasible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97396" y="2560320"/>
            <a:ext cx="47228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586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내 알고리즘 결과가 진짜 채점기의 5단계 검사를 모두 통과(무효해 0건).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5362956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14300" dist="38100" dir="8100000">
              <a:srgbClr val="0B162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931920"/>
            <a:ext cx="82296" cy="1965960"/>
          </a:xfrm>
          <a:prstGeom prst="rect">
            <a:avLst/>
          </a:prstGeom>
          <a:solidFill>
            <a:srgbClr val="E9A23B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4206240"/>
            <a:ext cx="457200" cy="457200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✓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63040" y="4224528"/>
            <a:ext cx="41742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4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기하 계산 교차검증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68680" y="4846320"/>
            <a:ext cx="47228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586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외부 라이브러리 없이 만든 다각형 교차면적을 해석해·몬테카를로로 검증(오차 ~1e-15).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77356" y="3931920"/>
            <a:ext cx="5362956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14300" dist="38100" dir="8100000">
              <a:srgbClr val="0B1620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77356" y="3931920"/>
            <a:ext cx="82296" cy="196596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24" name="Shape 22"/>
          <p:cNvSpPr/>
          <p:nvPr/>
        </p:nvSpPr>
        <p:spPr>
          <a:xfrm>
            <a:off x="6551676" y="4206240"/>
            <a:ext cx="457200" cy="45720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25" name="Text 23"/>
          <p:cNvSpPr/>
          <p:nvPr/>
        </p:nvSpPr>
        <p:spPr>
          <a:xfrm>
            <a:off x="6551676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✓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191756" y="4224528"/>
            <a:ext cx="41742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4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baseline 대비 벤치마크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597396" y="4846320"/>
            <a:ext cx="47228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586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제공 baseline과 동일 채점 기준으로 비교 — 공정한 성능 측정 체계 구축.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A9D8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4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결과: 어려운 인스턴스에서 baseline 개선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64008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315200" y="1737360"/>
            <a:ext cx="432511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14300" dist="38100" dir="8100000">
              <a:srgbClr val="0B1620">
                <a:alpha val="1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0" y="1737360"/>
            <a:ext cx="82296" cy="123444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7" name="Text 4"/>
          <p:cNvSpPr/>
          <p:nvPr/>
        </p:nvSpPr>
        <p:spPr>
          <a:xfrm>
            <a:off x="7635240" y="1901952"/>
            <a:ext cx="3685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76F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-28.7%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7653528" y="2514600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86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최대 개선폭 (case C)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315200" y="3108960"/>
            <a:ext cx="432511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14300" dist="38100" dir="8100000">
              <a:srgbClr val="0B162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315200" y="3108960"/>
            <a:ext cx="82296" cy="123444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1" name="Text 8"/>
          <p:cNvSpPr/>
          <p:nvPr/>
        </p:nvSpPr>
        <p:spPr>
          <a:xfrm>
            <a:off x="7635240" y="3273552"/>
            <a:ext cx="3685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9D8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-7.3%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7653528" y="3886200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86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어려운 세트 합계 개선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315200" y="4480560"/>
            <a:ext cx="432511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14300" dist="38100" dir="8100000">
              <a:srgbClr val="0B1620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315200" y="4480560"/>
            <a:ext cx="82296" cy="1234440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15" name="Text 12"/>
          <p:cNvSpPr/>
          <p:nvPr/>
        </p:nvSpPr>
        <p:spPr>
          <a:xfrm>
            <a:off x="7635240" y="4645152"/>
            <a:ext cx="3685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96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0건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7653528" y="5257800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86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baseline 대비 악화 (안전)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48640" y="58978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B8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쉬운 예제에서는 baseline이 이미 지연 0이라 동률(개선 없이도 절대 악화 없음). 개선은 빡빡한 인스턴스에서 나타남.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9A23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SKILLS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 프로젝트로 보여준 역량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453384" cy="1828800"/>
          </a:xfrm>
          <a:prstGeom prst="rect">
            <a:avLst/>
          </a:prstGeom>
          <a:solidFill>
            <a:srgbClr val="1B4965"/>
          </a:solidFill>
          <a:ln w="12700">
            <a:solidFill>
              <a:srgbClr val="31506B"/>
            </a:solidFill>
            <a:prstDash val="solid"/>
          </a:ln>
          <a:effectLst>
            <a:outerShdw sx="100000" sy="100000" kx="0" ky="0" algn="bl" rotWithShape="0" blurRad="114300" dist="38100" dir="8100000">
              <a:srgbClr val="0B162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502920" cy="50292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29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2904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문제 구조화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2904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9D6E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현업 문제를 목적함수·제약으로 번역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67784" y="1645920"/>
            <a:ext cx="3453384" cy="1828800"/>
          </a:xfrm>
          <a:prstGeom prst="rect">
            <a:avLst/>
          </a:prstGeom>
          <a:solidFill>
            <a:srgbClr val="1B4965"/>
          </a:solidFill>
          <a:ln w="12700">
            <a:solidFill>
              <a:srgbClr val="31506B"/>
            </a:solidFill>
            <a:prstDash val="solid"/>
          </a:ln>
          <a:effectLst>
            <a:outerShdw sx="100000" sy="100000" kx="0" ky="0" algn="bl" rotWithShape="0" blurRad="114300" dist="38100" dir="8100000">
              <a:srgbClr val="0B162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42104" y="1920240"/>
            <a:ext cx="502920" cy="502920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11" name="Text 9"/>
          <p:cNvSpPr/>
          <p:nvPr/>
        </p:nvSpPr>
        <p:spPr>
          <a:xfrm>
            <a:off x="4642104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29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42104" y="2560320"/>
            <a:ext cx="2904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 모델링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42104" y="2971800"/>
            <a:ext cx="2904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9D6E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JSON → 정규화 테이블, 후보·충돌 설계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86928" y="1645920"/>
            <a:ext cx="3453384" cy="1828800"/>
          </a:xfrm>
          <a:prstGeom prst="rect">
            <a:avLst/>
          </a:prstGeom>
          <a:solidFill>
            <a:srgbClr val="1B4965"/>
          </a:solidFill>
          <a:ln w="12700">
            <a:solidFill>
              <a:srgbClr val="31506B"/>
            </a:solidFill>
            <a:prstDash val="solid"/>
          </a:ln>
          <a:effectLst>
            <a:outerShdw sx="100000" sy="100000" kx="0" ky="0" algn="bl" rotWithShape="0" blurRad="114300" dist="38100" dir="8100000">
              <a:srgbClr val="0B162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61248" y="1920240"/>
            <a:ext cx="502920" cy="50292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6" name="Text 14"/>
          <p:cNvSpPr/>
          <p:nvPr/>
        </p:nvSpPr>
        <p:spPr>
          <a:xfrm>
            <a:off x="8461248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29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61248" y="2560320"/>
            <a:ext cx="2904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수리 최적화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61248" y="2971800"/>
            <a:ext cx="2904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9D6E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목적함수 선형화, 하한·최적성 갭 사고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794760"/>
            <a:ext cx="3453384" cy="1828800"/>
          </a:xfrm>
          <a:prstGeom prst="rect">
            <a:avLst/>
          </a:prstGeom>
          <a:solidFill>
            <a:srgbClr val="1B4965"/>
          </a:solidFill>
          <a:ln w="12700">
            <a:solidFill>
              <a:srgbClr val="31506B"/>
            </a:solidFill>
            <a:prstDash val="solid"/>
          </a:ln>
          <a:effectLst>
            <a:outerShdw sx="100000" sy="100000" kx="0" ky="0" algn="bl" rotWithShape="0" blurRad="114300" dist="38100" dir="8100000">
              <a:srgbClr val="0B1620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" y="4069080"/>
            <a:ext cx="502920" cy="50292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29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22960" y="4709160"/>
            <a:ext cx="2904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알고리즘 설계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22960" y="5120640"/>
            <a:ext cx="2904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9D6E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그리디·ALNS·matheuristic 하이브리드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67784" y="3794760"/>
            <a:ext cx="3453384" cy="1828800"/>
          </a:xfrm>
          <a:prstGeom prst="rect">
            <a:avLst/>
          </a:prstGeom>
          <a:solidFill>
            <a:srgbClr val="1B4965"/>
          </a:solidFill>
          <a:ln w="12700">
            <a:solidFill>
              <a:srgbClr val="31506B"/>
            </a:solidFill>
            <a:prstDash val="solid"/>
          </a:ln>
          <a:effectLst>
            <a:outerShdw sx="100000" sy="100000" kx="0" ky="0" algn="bl" rotWithShape="0" blurRad="114300" dist="38100" dir="8100000">
              <a:srgbClr val="0B1620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42104" y="4069080"/>
            <a:ext cx="502920" cy="502920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26" name="Text 24"/>
          <p:cNvSpPr/>
          <p:nvPr/>
        </p:nvSpPr>
        <p:spPr>
          <a:xfrm>
            <a:off x="4642104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29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642104" y="4709160"/>
            <a:ext cx="2904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SW 엔지니어링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642104" y="5120640"/>
            <a:ext cx="2904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9D6E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채점기 재현·교차검증, 안전한 fallback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86928" y="3794760"/>
            <a:ext cx="3453384" cy="1828800"/>
          </a:xfrm>
          <a:prstGeom prst="rect">
            <a:avLst/>
          </a:prstGeom>
          <a:solidFill>
            <a:srgbClr val="1B4965"/>
          </a:solidFill>
          <a:ln w="12700">
            <a:solidFill>
              <a:srgbClr val="31506B"/>
            </a:solidFill>
            <a:prstDash val="solid"/>
          </a:ln>
          <a:effectLst>
            <a:outerShdw sx="100000" sy="100000" kx="0" ky="0" algn="bl" rotWithShape="0" blurRad="114300" dist="38100" dir="8100000">
              <a:srgbClr val="0B1620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61248" y="4069080"/>
            <a:ext cx="502920" cy="50292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31" name="Text 29"/>
          <p:cNvSpPr/>
          <p:nvPr/>
        </p:nvSpPr>
        <p:spPr>
          <a:xfrm>
            <a:off x="8461248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29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461248" y="4709160"/>
            <a:ext cx="2904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커뮤니케이션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461248" y="5120640"/>
            <a:ext cx="2904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9D6E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비전공자용 설명·시각화 자료 제작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A9D8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4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다음 단계 (2차 목표: 대회 점수 향상)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14300" dist="38100" dir="8100000">
              <a:srgbClr val="0B162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00200"/>
            <a:ext cx="82296" cy="9601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4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1순위 · 안정성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931920" y="1764792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A586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 인스턴스 feasible + 시간 초과 전 항상 최선해 반환(anytime).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9537192" y="1856232"/>
            <a:ext cx="1783080" cy="457200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37192" y="185623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가장 싸고 점수 효과 큼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651760"/>
            <a:ext cx="1109167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14300" dist="38100" dir="8100000">
              <a:srgbClr val="0B162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651760"/>
            <a:ext cx="82296" cy="960120"/>
          </a:xfrm>
          <a:prstGeom prst="rect">
            <a:avLst/>
          </a:prstGeom>
          <a:solidFill>
            <a:srgbClr val="E9A23B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816352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4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2순위 · 탐색 강화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931920" y="2816352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A586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지연 타깃 ALNS·다중시작·적응형 연산자로 동시 패킹 극대화.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537192" y="2907792"/>
            <a:ext cx="1783080" cy="457200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37192" y="290779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9A23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점수원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703320"/>
            <a:ext cx="1109167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14300" dist="38100" dir="8100000">
              <a:srgbClr val="0B162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703320"/>
            <a:ext cx="82296" cy="96012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3867912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4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3순위 · 수학 결합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931920" y="3867912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A586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혼잡 구간 small-window MIP(Gurobi) + 하한으로 최적성 갭 제시.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537192" y="3959352"/>
            <a:ext cx="1783080" cy="457200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37192" y="395935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76F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성능+보고서 어필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4754880"/>
            <a:ext cx="1109167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14300" dist="38100" dir="8100000">
              <a:srgbClr val="0B1620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4754880"/>
            <a:ext cx="82296" cy="960120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4919472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4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4순위 · 고속·신규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931920" y="4919472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A586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충돌행렬 캐시·numba 가속, NFP 후보생성, (선택)ML 보조.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9537192" y="5010912"/>
            <a:ext cx="1783080" cy="457200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1B496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537192" y="501091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496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간접 점수+신규성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A9D8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QUANTUM PoC — HYBRID ORCHESTRATION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4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양자 PoC: 큰 문제를 쪼개 일부만 양자에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C4A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LG CNS의 Quantum-Augmented PoC와 같은 구도 — 고전이 문제를 축소·분해하고, 작은 하위문제만 양자가 푼다.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035454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14300" dist="38100" dir="8100000">
              <a:srgbClr val="0B162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011680"/>
            <a:ext cx="82296" cy="2194560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2267712"/>
            <a:ext cx="384048" cy="384048"/>
          </a:xfrm>
          <a:prstGeom prst="ellipse">
            <a:avLst/>
          </a:prstGeom>
          <a:solidFill>
            <a:srgbClr val="1B4965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267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2880360"/>
            <a:ext cx="16696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4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큰 문제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383280"/>
            <a:ext cx="16696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586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100~300 블록 전체 배치·일정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565806" y="2926080"/>
            <a:ext cx="265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B8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812694" y="2011680"/>
            <a:ext cx="2035454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14300" dist="38100" dir="8100000">
              <a:srgbClr val="0B162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812694" y="2011680"/>
            <a:ext cx="82296" cy="219456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4" name="Shape 12"/>
          <p:cNvSpPr/>
          <p:nvPr/>
        </p:nvSpPr>
        <p:spPr>
          <a:xfrm>
            <a:off x="3041294" y="2267712"/>
            <a:ext cx="384048" cy="384048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5" name="Text 13"/>
          <p:cNvSpPr/>
          <p:nvPr/>
        </p:nvSpPr>
        <p:spPr>
          <a:xfrm>
            <a:off x="3041294" y="2267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995574" y="2880360"/>
            <a:ext cx="16696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4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고전이 분해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995574" y="3383280"/>
            <a:ext cx="16696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586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기하·일정 처리, '배정' 하위문제만 추출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29861" y="2926080"/>
            <a:ext cx="265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B8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076749" y="2011680"/>
            <a:ext cx="2035454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14300" dist="38100" dir="8100000">
              <a:srgbClr val="0B1620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76749" y="2011680"/>
            <a:ext cx="82296" cy="2194560"/>
          </a:xfrm>
          <a:prstGeom prst="rect">
            <a:avLst/>
          </a:prstGeom>
          <a:solidFill>
            <a:srgbClr val="E9A23B"/>
          </a:solidFill>
          <a:ln/>
        </p:spPr>
      </p:sp>
      <p:sp>
        <p:nvSpPr>
          <p:cNvPr id="21" name="Shape 19"/>
          <p:cNvSpPr/>
          <p:nvPr/>
        </p:nvSpPr>
        <p:spPr>
          <a:xfrm>
            <a:off x="5305349" y="2267712"/>
            <a:ext cx="384048" cy="384048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22" name="Text 20"/>
          <p:cNvSpPr/>
          <p:nvPr/>
        </p:nvSpPr>
        <p:spPr>
          <a:xfrm>
            <a:off x="5305349" y="2267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259629" y="2880360"/>
            <a:ext cx="16696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4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배정 = QUBO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259629" y="3383280"/>
            <a:ext cx="16696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586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양자(D-Wave/QAOA) 또는 고전(SA)이 풀이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093915" y="2926080"/>
            <a:ext cx="265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B8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340803" y="2011680"/>
            <a:ext cx="2035454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14300" dist="38100" dir="8100000">
              <a:srgbClr val="0B1620">
                <a:alpha val="1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340803" y="2011680"/>
            <a:ext cx="82296" cy="219456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8" name="Shape 26"/>
          <p:cNvSpPr/>
          <p:nvPr/>
        </p:nvSpPr>
        <p:spPr>
          <a:xfrm>
            <a:off x="7569403" y="2267712"/>
            <a:ext cx="384048" cy="384048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9" name="Text 27"/>
          <p:cNvSpPr/>
          <p:nvPr/>
        </p:nvSpPr>
        <p:spPr>
          <a:xfrm>
            <a:off x="7569403" y="2267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523683" y="2880360"/>
            <a:ext cx="16696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4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고전이 마무리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523683" y="3383280"/>
            <a:ext cx="16696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586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그 배정 위에 기하·크레인·일정 확정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357970" y="2926080"/>
            <a:ext cx="265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B8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9604858" y="2011680"/>
            <a:ext cx="2035454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14300" dist="38100" dir="8100000">
              <a:srgbClr val="0B1620">
                <a:alpha val="1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9604858" y="2011680"/>
            <a:ext cx="82296" cy="219456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35" name="Shape 33"/>
          <p:cNvSpPr/>
          <p:nvPr/>
        </p:nvSpPr>
        <p:spPr>
          <a:xfrm>
            <a:off x="9833458" y="2267712"/>
            <a:ext cx="384048" cy="384048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36" name="Text 34"/>
          <p:cNvSpPr/>
          <p:nvPr/>
        </p:nvSpPr>
        <p:spPr>
          <a:xfrm>
            <a:off x="9833458" y="2267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9787738" y="2880360"/>
            <a:ext cx="16696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4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진짜 채점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787738" y="3383280"/>
            <a:ext cx="16696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586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utils로 feasibility·objective 평가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48640" y="45720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B496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왜 '배정'인가: 어느 bay에 둘지는 이산 선택이라 QUBO로 딱 떨어지고, 평가지표 Z2·Z3가 배정만으로 정해진다.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9A23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QUANTUM PoC — QUBO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배정을 QUBO로: 양자가 푸는 표준형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6E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변수 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x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ᵢⱼ = 1  </a:t>
            </a:r>
            <a:pPr indent="0" marL="0">
              <a:buNone/>
            </a:pPr>
            <a:r>
              <a:rPr lang="en-US" sz="1800" i="1" dirty="0">
                <a:solidFill>
                  <a:srgbClr val="8FA6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(블록 i 를 bay j 에 배정)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392424" cy="2286000"/>
          </a:xfrm>
          <a:prstGeom prst="rect">
            <a:avLst/>
          </a:prstGeom>
          <a:solidFill>
            <a:srgbClr val="1B4965"/>
          </a:solidFill>
          <a:ln w="12700">
            <a:solidFill>
              <a:srgbClr val="31506B"/>
            </a:solidFill>
            <a:prstDash val="solid"/>
          </a:ln>
          <a:effectLst>
            <a:outerShdw sx="100000" sy="100000" kx="0" ky="0" algn="bl" rotWithShape="0" blurRad="114300" dist="38100" dir="8100000">
              <a:srgbClr val="0B162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194560"/>
            <a:ext cx="3392424" cy="82296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468880"/>
            <a:ext cx="2843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제약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035808"/>
            <a:ext cx="2843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E3D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A·Σᵢ (Σⱼ xᵢⱼ − 1)²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749040"/>
            <a:ext cx="2843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9D6E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각 블록은 정확히 한 bay (위반 시 큰 페널티)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98264" y="2194560"/>
            <a:ext cx="3392424" cy="2286000"/>
          </a:xfrm>
          <a:prstGeom prst="rect">
            <a:avLst/>
          </a:prstGeom>
          <a:solidFill>
            <a:srgbClr val="1B4965"/>
          </a:solidFill>
          <a:ln w="12700">
            <a:solidFill>
              <a:srgbClr val="31506B"/>
            </a:solidFill>
            <a:prstDash val="solid"/>
          </a:ln>
          <a:effectLst>
            <a:outerShdw sx="100000" sy="100000" kx="0" ky="0" algn="bl" rotWithShape="0" blurRad="114300" dist="38100" dir="8100000">
              <a:srgbClr val="0B162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98264" y="2194560"/>
            <a:ext cx="3392424" cy="82296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2" name="Text 10"/>
          <p:cNvSpPr/>
          <p:nvPr/>
        </p:nvSpPr>
        <p:spPr>
          <a:xfrm>
            <a:off x="4672584" y="2468880"/>
            <a:ext cx="2843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Z₃ 선호손실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72584" y="3035808"/>
            <a:ext cx="2843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E3D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w₃·Σ (Sₘₐₓ − Sᵢⱼ) xᵢⱼ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72584" y="3749040"/>
            <a:ext cx="2843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9D6E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덜 선호하는 bay에 둘수록 비용↑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47888" y="2194560"/>
            <a:ext cx="3392424" cy="2286000"/>
          </a:xfrm>
          <a:prstGeom prst="rect">
            <a:avLst/>
          </a:prstGeom>
          <a:solidFill>
            <a:srgbClr val="1B4965"/>
          </a:solidFill>
          <a:ln w="12700">
            <a:solidFill>
              <a:srgbClr val="31506B"/>
            </a:solidFill>
            <a:prstDash val="solid"/>
          </a:ln>
          <a:effectLst>
            <a:outerShdw sx="100000" sy="100000" kx="0" ky="0" algn="bl" rotWithShape="0" blurRad="114300" dist="38100" dir="8100000">
              <a:srgbClr val="0B1620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47888" y="2194560"/>
            <a:ext cx="3392424" cy="82296"/>
          </a:xfrm>
          <a:prstGeom prst="rect">
            <a:avLst/>
          </a:prstGeom>
          <a:solidFill>
            <a:srgbClr val="E9A23B"/>
          </a:solidFill>
          <a:ln/>
        </p:spPr>
      </p:sp>
      <p:sp>
        <p:nvSpPr>
          <p:cNvPr id="17" name="Text 15"/>
          <p:cNvSpPr/>
          <p:nvPr/>
        </p:nvSpPr>
        <p:spPr>
          <a:xfrm>
            <a:off x="8522208" y="2468880"/>
            <a:ext cx="2843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Z₂ 균형(대용)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522208" y="3035808"/>
            <a:ext cx="2843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E3D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w₂'·Σⱼ (uⱼ Σᵢ Lᵢ xᵢⱼ)²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522208" y="3749040"/>
            <a:ext cx="2843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9D6E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bay 보정부하 제곱합 → 작업량 쏠림 억제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49377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같은 QUBO(Q)를 D-Wave 어닐러·Qiskit QAOA·고전 SA에 똑같이 넣어 비교 — 동일 인터페이스 검증.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A9D8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QUANTUM PoC — RESULT &amp; HONEST TAKE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4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실데이터 20개 결과와 정직한 결론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120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14300" dist="38100" dir="8100000">
              <a:srgbClr val="0B162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45920"/>
            <a:ext cx="82296" cy="123444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92224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9D8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100%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86968" y="24231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86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QUBO-SA의 고전 최적 배정 일치율 (중앙값)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5120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14300" dist="38100" dir="8100000">
              <a:srgbClr val="0B162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3017520"/>
            <a:ext cx="82296" cy="1234440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163824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96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0.0%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886968" y="37947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86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목적값 gap 중앙값 (최적 회복)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389120"/>
            <a:ext cx="5120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14300" dist="38100" dir="8100000">
              <a:srgbClr val="0B162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4389120"/>
            <a:ext cx="82296" cy="123444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535424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76F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−19%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86968" y="51663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86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일부 인스턴스는 미세 능가 (prob_15)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1645920"/>
            <a:ext cx="5605272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14300" dist="38100" dir="8100000">
              <a:srgbClr val="0B162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1645920"/>
            <a:ext cx="82296" cy="4160520"/>
          </a:xfrm>
          <a:prstGeom prst="rect">
            <a:avLst/>
          </a:prstGeom>
          <a:solidFill>
            <a:srgbClr val="E9A23B"/>
          </a:solidFill>
          <a:ln/>
        </p:spPr>
      </p:sp>
      <p:sp>
        <p:nvSpPr>
          <p:cNvPr id="18" name="Text 16"/>
          <p:cNvSpPr/>
          <p:nvPr/>
        </p:nvSpPr>
        <p:spPr>
          <a:xfrm>
            <a:off x="6355080" y="18745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6F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정직한 결론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55080" y="237744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C4A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 데이터는 </a:t>
            </a:r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724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w₃(선호) ≫ w₂(균형)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C4A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이라, 배정 최적해가 사실상 '모두 최선호 bay'에 가깝다(near-separable). 즉 배정은 고전적으로 쉬운 문제다.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355080" y="36576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724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 '배정 QUBO'는 수식·인터페이스 검증용 깔끔한 데모이고, 양자가 실익을 줄 곳은 아니다.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55080" y="452628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A9D8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진짜 양자 타깃: w₁(압도적)을 좌우하는 '시간창별 동시배치 블록 선택'(충돌 없는 부분집합 최대화 = 가중 독립집합/패킹).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9A23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 문장으로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920240"/>
            <a:ext cx="106344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조선소의 제한된 작업장에 비정형 블록을 어디·어떻게·언제 둘지 동시에 결정해,</a:t>
            </a:r>
            <a:endParaRPr lang="en-US" sz="2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납기 지연·작업 불균형·선호 손실을 최소화하는 운영 최적화 시스템을 설계·검증했습니다.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48640" y="3749040"/>
            <a:ext cx="11091672" cy="0"/>
          </a:xfrm>
          <a:prstGeom prst="line">
            <a:avLst/>
          </a:prstGeom>
          <a:noFill/>
          <a:ln w="12700">
            <a:solidFill>
              <a:srgbClr val="3150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977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산출물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4480560"/>
            <a:ext cx="146304" cy="146304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4434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발표자료 (PPTX)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68680" y="476402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C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 포트폴리오 덱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94476" y="4480560"/>
            <a:ext cx="146304" cy="146304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10" name="Text 8"/>
          <p:cNvSpPr/>
          <p:nvPr/>
        </p:nvSpPr>
        <p:spPr>
          <a:xfrm>
            <a:off x="6414516" y="4434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코드 묶음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14516" y="476402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C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geometry·greedy·alns·evaluator·myalgorithm 등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5349240"/>
            <a:ext cx="146304" cy="146304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53035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순수 파이썬 채점기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68680" y="563270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C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shapely 없이 진짜 채점 재현·검증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94476" y="5349240"/>
            <a:ext cx="146304" cy="146304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16" name="Text 14"/>
          <p:cNvSpPr/>
          <p:nvPr/>
        </p:nvSpPr>
        <p:spPr>
          <a:xfrm>
            <a:off x="6414516" y="53035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양자 PoC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14516" y="563270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C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배정 QUBO + Hybrid Orchestration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6217920"/>
            <a:ext cx="146304" cy="146304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6172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설명 PDF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68680" y="650138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C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비전공자용 기초 안내서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94476" y="6217920"/>
            <a:ext cx="146304" cy="146304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22" name="Text 20"/>
          <p:cNvSpPr/>
          <p:nvPr/>
        </p:nvSpPr>
        <p:spPr>
          <a:xfrm>
            <a:off x="6414516" y="6172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GitHub 레포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14516" y="650138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C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전체 코드·문서 공개 패키지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조선소 선박 블록 배치 최적화</dc:title>
  <dc:subject>PptxGenJS Presentation</dc:subject>
  <dc:creator>Portfolio</dc:creator>
  <cp:lastModifiedBy>Portfolio</cp:lastModifiedBy>
  <cp:revision>1</cp:revision>
  <dcterms:created xsi:type="dcterms:W3CDTF">2026-06-03T04:36:11Z</dcterms:created>
  <dcterms:modified xsi:type="dcterms:W3CDTF">2026-06-03T04:36:11Z</dcterms:modified>
</cp:coreProperties>
</file>